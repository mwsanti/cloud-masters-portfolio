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>
                <a:effectLst/>
              </a:rPr>
              <a:t>3 Year TCO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Datacenter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</c:f>
              <c:strCache>
                <c:ptCount val="1"/>
                <c:pt idx="0">
                  <c:v>3y TCO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Sheet1!$B$2:$B$5</c15:sqref>
                  </c15:fullRef>
                </c:ext>
              </c:extLst>
              <c:f>Sheet1!$B$2</c:f>
              <c:numCache>
                <c:formatCode>"$"#,##0_);[Red]\("$"#,##0\)</c:formatCode>
                <c:ptCount val="1"/>
                <c:pt idx="0">
                  <c:v>272745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0-4816-AFD0-D0B290CA0E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AWS Cloud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Sheet1!$A$2:$A$5</c15:sqref>
                  </c15:fullRef>
                </c:ext>
              </c:extLst>
              <c:f>Sheet1!$A$2</c:f>
              <c:strCache>
                <c:ptCount val="1"/>
                <c:pt idx="0">
                  <c:v>3y TCO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Sheet1!$C$2:$C$5</c15:sqref>
                  </c15:fullRef>
                </c:ext>
              </c:extLst>
              <c:f>Sheet1!$C$2</c:f>
              <c:numCache>
                <c:formatCode>General</c:formatCode>
                <c:ptCount val="1"/>
                <c:pt idx="0" formatCode="&quot;$&quot;#,##0_);[Red]\(&quot;$&quot;#,##0\)">
                  <c:v>188100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90-4816-AFD0-D0B290CA0E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82834432"/>
        <c:axId val="582834912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ullRef>
                          <c15:sqref>Sheet1!$A$2:$A$5</c15:sqref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3y TCO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ullRef>
                          <c15:sqref>Sheet1!$D$2:$D$5</c15:sqref>
                        </c15:fullRef>
                        <c15:formulaRef>
                          <c15:sqref>Sheet1!$D$2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1A90-4816-AFD0-D0B290CA0ED4}"/>
                  </c:ext>
                </c:extLst>
              </c15:ser>
            </c15:filteredBarSeries>
          </c:ext>
        </c:extLst>
      </c:barChart>
      <c:catAx>
        <c:axId val="582834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834912"/>
        <c:crosses val="autoZero"/>
        <c:auto val="1"/>
        <c:lblAlgn val="ctr"/>
        <c:lblOffset val="100"/>
        <c:noMultiLvlLbl val="0"/>
      </c:catAx>
      <c:valAx>
        <c:axId val="582834912"/>
        <c:scaling>
          <c:orientation val="minMax"/>
          <c:min val="1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834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ROI</a:t>
            </a:r>
            <a:r>
              <a:rPr lang="en-US" baseline="0" dirty="0"/>
              <a:t> by Use Case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 Apps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ROI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1"/>
                <c:pt idx="0" formatCode="0%">
                  <c:v>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FC-4CBE-9301-029CEFC75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Backup &amp; Recovery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ROI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1"/>
                <c:pt idx="0" formatCode="0%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FC-4CBE-9301-029CEFC755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 Self-Service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ROI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1"/>
                <c:pt idx="0" formatCode="0%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FC-4CBE-9301-029CEFC755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Website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ROI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1"/>
                <c:pt idx="0" formatCode="0%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FC-4CBE-9301-029CEFC755A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Email System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1"/>
                <c:pt idx="0">
                  <c:v>ROI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1"/>
                <c:pt idx="0" formatCode="0%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FC-4CBE-9301-029CEFC75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17837856"/>
        <c:axId val="717835936"/>
      </c:barChart>
      <c:catAx>
        <c:axId val="717837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7835936"/>
        <c:crosses val="autoZero"/>
        <c:auto val="1"/>
        <c:lblAlgn val="ctr"/>
        <c:lblOffset val="100"/>
        <c:noMultiLvlLbl val="0"/>
      </c:catAx>
      <c:valAx>
        <c:axId val="717835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7837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4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2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7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4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4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5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1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41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6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80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9846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29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20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10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23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A71417E-37CA-4D8B-A01D-336E910761E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4CB-CB9E-4825-9B68-FF35F0A00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5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8A21-BA2B-8F79-E4FB-7FEDDD95D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Project 3: Executive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11BAE-59CA-6379-FE17-0B14D8576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Matthew Santiago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Maryland Global Campus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CCS 670 Cloud Computing Capstone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Gohar Mukhtar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September 9, 2025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22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58BCB4-B260-634B-4D42-C3C0B0B5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Cost of Ownership (TCO)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CF70FD-2F7E-0720-31CA-CA47D8AC6C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Monthly TCO</a:t>
            </a:r>
          </a:p>
          <a:p>
            <a:pPr lvl="1"/>
            <a:r>
              <a:rPr lang="en-US" dirty="0"/>
              <a:t>$5,225</a:t>
            </a:r>
          </a:p>
          <a:p>
            <a:r>
              <a:rPr lang="en-US" dirty="0"/>
              <a:t>Annual TCO</a:t>
            </a:r>
          </a:p>
          <a:p>
            <a:pPr lvl="1"/>
            <a:r>
              <a:rPr lang="en-US" dirty="0"/>
              <a:t>$62,700</a:t>
            </a:r>
          </a:p>
          <a:p>
            <a:r>
              <a:rPr lang="en-US" dirty="0"/>
              <a:t>3 Year TCO</a:t>
            </a:r>
          </a:p>
          <a:p>
            <a:pPr lvl="1"/>
            <a:r>
              <a:rPr lang="en-US" dirty="0"/>
              <a:t>$188,100</a:t>
            </a:r>
          </a:p>
          <a:p>
            <a:pPr marL="0" indent="0">
              <a:buNone/>
            </a:pPr>
            <a:r>
              <a:rPr lang="en-US" sz="1400" dirty="0"/>
              <a:t>The TCO includes all AWS service costs, training, and administrative (except employee salary)</a:t>
            </a:r>
            <a:endParaRPr lang="en-US" sz="1000" dirty="0"/>
          </a:p>
          <a:p>
            <a:pPr lvl="1"/>
            <a:r>
              <a:rPr lang="en-US" sz="1000" dirty="0"/>
              <a:t>The TCO is also for our current 1 AWS region.</a:t>
            </a:r>
          </a:p>
          <a:p>
            <a:r>
              <a:rPr lang="en-US" sz="1200" dirty="0"/>
              <a:t>Data Center Total: $272,745</a:t>
            </a:r>
          </a:p>
          <a:p>
            <a:r>
              <a:rPr lang="en-US" sz="1200" dirty="0"/>
              <a:t>"The AWS cloud infrastructure provides cost savings of 45%”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71BE342-B44E-177C-9953-62E3E158E6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76862906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5634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F8A6-B639-FA08-B7B4-C6050923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on Investment (ROI)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5BC35-48CA-2A4B-6E45-91A27919C0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Total 3 Year ROI</a:t>
            </a:r>
          </a:p>
          <a:p>
            <a:pPr lvl="1"/>
            <a:r>
              <a:rPr lang="en-US" dirty="0"/>
              <a:t>22.05%</a:t>
            </a:r>
          </a:p>
          <a:p>
            <a:r>
              <a:rPr lang="en-US" dirty="0"/>
              <a:t>Total 3 Year Investment</a:t>
            </a:r>
          </a:p>
          <a:p>
            <a:pPr lvl="1"/>
            <a:r>
              <a:rPr lang="en-US" dirty="0"/>
              <a:t>$26,825</a:t>
            </a:r>
          </a:p>
          <a:p>
            <a:r>
              <a:rPr lang="en-US" dirty="0"/>
              <a:t>Total 3 Year Gain</a:t>
            </a:r>
          </a:p>
          <a:p>
            <a:pPr lvl="1"/>
            <a:r>
              <a:rPr lang="en-US" dirty="0"/>
              <a:t>$618,542</a:t>
            </a:r>
          </a:p>
          <a:p>
            <a:r>
              <a:rPr lang="en-US" dirty="0"/>
              <a:t>Net 3 Year Gain</a:t>
            </a:r>
          </a:p>
          <a:p>
            <a:pPr lvl="1"/>
            <a:r>
              <a:rPr lang="en-US" dirty="0"/>
              <a:t>$591,716</a:t>
            </a: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0E8830C-B283-596A-60EA-6A5989B9FE4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52467355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3216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</TotalTime>
  <Words>125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Century Gothic</vt:lpstr>
      <vt:lpstr>Wingdings 3</vt:lpstr>
      <vt:lpstr>Ion</vt:lpstr>
      <vt:lpstr>Project 3: Executive Presentation</vt:lpstr>
      <vt:lpstr>Total Cost of Ownership (TCO)</vt:lpstr>
      <vt:lpstr>Return on Investment (ROI)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Santiago, Matthew W</dc:creator>
  <cp:lastModifiedBy>Santiago, Matthew W</cp:lastModifiedBy>
  <cp:revision>3</cp:revision>
  <dcterms:created xsi:type="dcterms:W3CDTF">2025-09-09T15:11:53Z</dcterms:created>
  <dcterms:modified xsi:type="dcterms:W3CDTF">2025-09-09T16:05:23Z</dcterms:modified>
</cp:coreProperties>
</file>