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15"/>
  </p:notesMasterIdLst>
  <p:handoutMasterIdLst>
    <p:handoutMasterId r:id="rId16"/>
  </p:handoutMasterIdLst>
  <p:sldIdLst>
    <p:sldId id="256" r:id="rId5"/>
    <p:sldId id="261" r:id="rId6"/>
    <p:sldId id="262" r:id="rId7"/>
    <p:sldId id="263" r:id="rId8"/>
    <p:sldId id="264" r:id="rId9"/>
    <p:sldId id="265" r:id="rId10"/>
    <p:sldId id="266" r:id="rId11"/>
    <p:sldId id="267" r:id="rId12"/>
    <p:sldId id="268" r:id="rId13"/>
    <p:sldId id="26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4639" autoAdjust="0"/>
  </p:normalViewPr>
  <p:slideViewPr>
    <p:cSldViewPr snapToGrid="0">
      <p:cViewPr varScale="1">
        <p:scale>
          <a:sx n="48" d="100"/>
          <a:sy n="48" d="100"/>
        </p:scale>
        <p:origin x="67" y="19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3/8/2025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3/8/2025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31615"/>
                </a:solidFill>
                <a:effectLst/>
                <a:latin typeface="__Public_Sans_3a41d0"/>
              </a:rPr>
              <a:t>Welcome to </a:t>
            </a:r>
            <a:r>
              <a:rPr lang="en-US" b="0" i="0" dirty="0" err="1">
                <a:solidFill>
                  <a:srgbClr val="131615"/>
                </a:solidFill>
                <a:effectLst/>
                <a:latin typeface="__Public_Sans_3a41d0"/>
              </a:rPr>
              <a:t>BallotOnline's</a:t>
            </a:r>
            <a:r>
              <a:rPr lang="en-US" b="0" i="0" dirty="0">
                <a:solidFill>
                  <a:srgbClr val="131615"/>
                </a:solidFill>
                <a:effectLst/>
                <a:latin typeface="__Public_Sans_3a41d0"/>
              </a:rPr>
              <a:t> cloud training! Today, we are going to talk about the AWS Service Catalog, which is a tool that helps us to manage and deploy the pre-approved cloud resources in a quick and easy way. The service catalog is defined as a service for building and managing catalogs of IT services that are approved for AWS and are therefore more compliant and governed (Amazon Web Services, n.d.-a). From our viewpoint, this means that our cloud operations are being standardized, and the risks of non-compliant deployments are minimized. This training is part of the </a:t>
            </a:r>
            <a:r>
              <a:rPr lang="en-US" b="0" i="0" dirty="0" err="1">
                <a:solidFill>
                  <a:srgbClr val="131615"/>
                </a:solidFill>
                <a:effectLst/>
                <a:latin typeface="__Public_Sans_3a41d0"/>
              </a:rPr>
              <a:t>BallotOnline's</a:t>
            </a:r>
            <a:r>
              <a:rPr lang="en-US" b="0" i="0" dirty="0">
                <a:solidFill>
                  <a:srgbClr val="131615"/>
                </a:solidFill>
                <a:effectLst/>
                <a:latin typeface="__Public_Sans_3a41d0"/>
              </a:rPr>
              <a:t> effort to guarantee a secure and efficient cloud environment. Whether you are an end-user or an admin, this tool will be useful for you in your role.</a:t>
            </a:r>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a:t>
            </a:fld>
            <a:endParaRPr lang="en-US" dirty="0"/>
          </a:p>
        </p:txBody>
      </p:sp>
    </p:spTree>
    <p:extLst>
      <p:ext uri="{BB962C8B-B14F-4D97-AF65-F5344CB8AC3E}">
        <p14:creationId xmlns:p14="http://schemas.microsoft.com/office/powerpoint/2010/main" val="4159554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an end user, first login to the AWS Management Console with your </a:t>
            </a:r>
            <a:r>
              <a:rPr lang="en-US" dirty="0" err="1"/>
              <a:t>BallotOnline</a:t>
            </a:r>
            <a:r>
              <a:rPr lang="en-US" dirty="0"/>
              <a:t> credentials.  Navigate to ‘Service Catalog’ under the ‘Services’ menu, as pointed out in the user guide  (Amazon Web Services n.d.-b). You will see portfolios like ‘Dev Tools,’ that have  products like EC2 or S3 which are pre-approved by admins. This guarantees that you are only able to access compliant resources, as per NIST SP 800-100 security awareness  (National Institute of Standards and Technology, 2006).</a:t>
            </a:r>
          </a:p>
        </p:txBody>
      </p:sp>
      <p:sp>
        <p:nvSpPr>
          <p:cNvPr id="4" name="Slide Number Placeholder 3"/>
          <p:cNvSpPr>
            <a:spLocks noGrp="1"/>
          </p:cNvSpPr>
          <p:nvPr>
            <p:ph type="sldNum" sz="quarter" idx="5"/>
          </p:nvPr>
        </p:nvSpPr>
        <p:spPr/>
        <p:txBody>
          <a:bodyPr/>
          <a:lstStyle/>
          <a:p>
            <a:fld id="{C6B3AB32-59DF-41F1-9618-EDFBF5049629}" type="slidenum">
              <a:rPr lang="en-US" smtClean="0"/>
              <a:t>3</a:t>
            </a:fld>
            <a:endParaRPr lang="en-US" dirty="0"/>
          </a:p>
        </p:txBody>
      </p:sp>
    </p:spTree>
    <p:extLst>
      <p:ext uri="{BB962C8B-B14F-4D97-AF65-F5344CB8AC3E}">
        <p14:creationId xmlns:p14="http://schemas.microsoft.com/office/powerpoint/2010/main" val="333871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deploy, choose a service like an EC2 instance, fill out the form with details like instance type, as per AWS guidelines(amazon web services (AWS) n.d.-c). Submit, and see the status in Provisioned Products. It is a user friendly interface with preconfigured settings to ensure safety and compliance with </a:t>
            </a:r>
            <a:r>
              <a:rPr lang="en-US" dirty="0" err="1"/>
              <a:t>BallotOnline</a:t>
            </a:r>
            <a:r>
              <a:rPr lang="en-US" dirty="0"/>
              <a:t> policies. </a:t>
            </a:r>
          </a:p>
        </p:txBody>
      </p:sp>
      <p:sp>
        <p:nvSpPr>
          <p:cNvPr id="4" name="Slide Number Placeholder 3"/>
          <p:cNvSpPr>
            <a:spLocks noGrp="1"/>
          </p:cNvSpPr>
          <p:nvPr>
            <p:ph type="sldNum" sz="quarter" idx="5"/>
          </p:nvPr>
        </p:nvSpPr>
        <p:spPr/>
        <p:txBody>
          <a:bodyPr/>
          <a:lstStyle/>
          <a:p>
            <a:fld id="{C6B3AB32-59DF-41F1-9618-EDFBF5049629}" type="slidenum">
              <a:rPr lang="en-US" smtClean="0"/>
              <a:t>4</a:t>
            </a:fld>
            <a:endParaRPr lang="en-US" dirty="0"/>
          </a:p>
        </p:txBody>
      </p:sp>
    </p:spTree>
    <p:extLst>
      <p:ext uri="{BB962C8B-B14F-4D97-AF65-F5344CB8AC3E}">
        <p14:creationId xmlns:p14="http://schemas.microsoft.com/office/powerpoint/2010/main" val="3576691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on the front line, as far as security is concerned. You should adhere to the security policies which include not sharing credentials, not using more resources than what is required for instance by not  keeping idle instances which increase the cost of operation and if there is any issue then report it to the  IT department. This is in conformity with the AWS security best practices as documented by Amazon Web Services  (AWS) (Amazon Web Services, n.d.-d). This is beneficial to </a:t>
            </a:r>
            <a:r>
              <a:rPr lang="en-US" dirty="0" err="1"/>
              <a:t>BallotOnline’s</a:t>
            </a:r>
            <a:r>
              <a:rPr lang="en-US" dirty="0"/>
              <a:t>  cloud effectiveness which NIST SP 800-100 had emphasized on the role of user responsibilities (National  Institute of Standards and Technology, 2006).</a:t>
            </a:r>
          </a:p>
        </p:txBody>
      </p:sp>
      <p:sp>
        <p:nvSpPr>
          <p:cNvPr id="4" name="Slide Number Placeholder 3"/>
          <p:cNvSpPr>
            <a:spLocks noGrp="1"/>
          </p:cNvSpPr>
          <p:nvPr>
            <p:ph type="sldNum" sz="quarter" idx="5"/>
          </p:nvPr>
        </p:nvSpPr>
        <p:spPr/>
        <p:txBody>
          <a:bodyPr/>
          <a:lstStyle/>
          <a:p>
            <a:fld id="{C6B3AB32-59DF-41F1-9618-EDFBF5049629}" type="slidenum">
              <a:rPr lang="en-US" smtClean="0"/>
              <a:t>5</a:t>
            </a:fld>
            <a:endParaRPr lang="en-US" dirty="0"/>
          </a:p>
        </p:txBody>
      </p:sp>
    </p:spTree>
    <p:extLst>
      <p:ext uri="{BB962C8B-B14F-4D97-AF65-F5344CB8AC3E}">
        <p14:creationId xmlns:p14="http://schemas.microsoft.com/office/powerpoint/2010/main" val="1686066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admins are to create portfolios such as ‘Dev Tools,’ using CloudFormation  templates to create products and define permissions using IAM roles as explained in the AWS admin guide (Amazon Web  Services, n.d.-e). This guarantees that users are unable to access unapproved services thus enhancing security and compliance.</a:t>
            </a:r>
          </a:p>
        </p:txBody>
      </p:sp>
      <p:sp>
        <p:nvSpPr>
          <p:cNvPr id="4" name="Slide Number Placeholder 3"/>
          <p:cNvSpPr>
            <a:spLocks noGrp="1"/>
          </p:cNvSpPr>
          <p:nvPr>
            <p:ph type="sldNum" sz="quarter" idx="5"/>
          </p:nvPr>
        </p:nvSpPr>
        <p:spPr/>
        <p:txBody>
          <a:bodyPr/>
          <a:lstStyle/>
          <a:p>
            <a:fld id="{C6B3AB32-59DF-41F1-9618-EDFBF5049629}" type="slidenum">
              <a:rPr lang="en-US" smtClean="0"/>
              <a:t>6</a:t>
            </a:fld>
            <a:endParaRPr lang="en-US" dirty="0"/>
          </a:p>
        </p:txBody>
      </p:sp>
    </p:spTree>
    <p:extLst>
      <p:ext uri="{BB962C8B-B14F-4D97-AF65-F5344CB8AC3E}">
        <p14:creationId xmlns:p14="http://schemas.microsoft.com/office/powerpoint/2010/main" val="3256468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AWS CloudWatch monitor usage, set constraints like region limits, and use CloudTrail to investigate errors as per AWS tools (Amazon Web Services (AWS) Well-Architected Tool,  n.d.-f; Amazon Web Services (AWS) Well-Architected Tool,  n.d.-g). </a:t>
            </a:r>
            <a:r>
              <a:rPr lang="en-US" dirty="0" err="1"/>
              <a:t>BallotOnline's</a:t>
            </a:r>
            <a:r>
              <a:rPr lang="en-US" dirty="0"/>
              <a:t> security is also compliant and any issues are resolved quickly, all in accordance  with NIST SP 800-100's governance focus on governing security standards (National Institute of Standards  and Technology, December 2006).</a:t>
            </a:r>
          </a:p>
        </p:txBody>
      </p:sp>
      <p:sp>
        <p:nvSpPr>
          <p:cNvPr id="4" name="Slide Number Placeholder 3"/>
          <p:cNvSpPr>
            <a:spLocks noGrp="1"/>
          </p:cNvSpPr>
          <p:nvPr>
            <p:ph type="sldNum" sz="quarter" idx="5"/>
          </p:nvPr>
        </p:nvSpPr>
        <p:spPr/>
        <p:txBody>
          <a:bodyPr/>
          <a:lstStyle/>
          <a:p>
            <a:fld id="{C6B3AB32-59DF-41F1-9618-EDFBF5049629}" type="slidenum">
              <a:rPr lang="en-US" smtClean="0"/>
              <a:t>7</a:t>
            </a:fld>
            <a:endParaRPr lang="en-US" dirty="0"/>
          </a:p>
        </p:txBody>
      </p:sp>
    </p:spTree>
    <p:extLst>
      <p:ext uri="{BB962C8B-B14F-4D97-AF65-F5344CB8AC3E}">
        <p14:creationId xmlns:p14="http://schemas.microsoft.com/office/powerpoint/2010/main" val="1203822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role specific content, focus on learning about the services that are relevant to your role and try  out deploying them to gain hands on learning and do seek IT support when needed. This aligns with NIST SP 800-100’s guiding principles on training effectiveness NIST Special Publication SP  800-100 Information Security Handbook Guide for Managers. Stay updated with latest from AWS training resources for continuous  learning AWS Training and Certification. Make sure that the training materials are up to date at regular intervals to  reflect the changes in cloud operations.</a:t>
            </a:r>
          </a:p>
        </p:txBody>
      </p:sp>
      <p:sp>
        <p:nvSpPr>
          <p:cNvPr id="4" name="Slide Number Placeholder 3"/>
          <p:cNvSpPr>
            <a:spLocks noGrp="1"/>
          </p:cNvSpPr>
          <p:nvPr>
            <p:ph type="sldNum" sz="quarter" idx="5"/>
          </p:nvPr>
        </p:nvSpPr>
        <p:spPr/>
        <p:txBody>
          <a:bodyPr/>
          <a:lstStyle/>
          <a:p>
            <a:fld id="{C6B3AB32-59DF-41F1-9618-EDFBF5049629}" type="slidenum">
              <a:rPr lang="en-US" smtClean="0"/>
              <a:t>8</a:t>
            </a:fld>
            <a:endParaRPr lang="en-US" dirty="0"/>
          </a:p>
        </p:txBody>
      </p:sp>
    </p:spTree>
    <p:extLst>
      <p:ext uri="{BB962C8B-B14F-4D97-AF65-F5344CB8AC3E}">
        <p14:creationId xmlns:p14="http://schemas.microsoft.com/office/powerpoint/2010/main" val="2366638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10</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3/8/2025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3/8/2025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3/8/2025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3/8/2025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3/8/2025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3/8/2025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hyperlink" Target="https://aws.amazon.com/cloudtrail/" TargetMode="External"/><Relationship Id="rId3" Type="http://schemas.openxmlformats.org/officeDocument/2006/relationships/hyperlink" Target="https://docs.aws.amazon.com/servicecatalog/latest/userguide/introduction.html" TargetMode="External"/><Relationship Id="rId7" Type="http://schemas.openxmlformats.org/officeDocument/2006/relationships/hyperlink" Target="https://aws.amazon.com/cloudwatch/" TargetMode="External"/><Relationship Id="rId2" Type="http://schemas.openxmlformats.org/officeDocument/2006/relationships/hyperlink" Target="https://docs.aws.amazon.com/servicecatalog/latest/adminguide/introduction.html" TargetMode="External"/><Relationship Id="rId1" Type="http://schemas.openxmlformats.org/officeDocument/2006/relationships/slideLayout" Target="../slideLayouts/slideLayout2.xml"/><Relationship Id="rId6" Type="http://schemas.openxmlformats.org/officeDocument/2006/relationships/hyperlink" Target="https://docs.aws.amazon.com/servicecatalog/latest/adminguide/portfolio-product.html" TargetMode="External"/><Relationship Id="rId5" Type="http://schemas.openxmlformats.org/officeDocument/2006/relationships/hyperlink" Target="https://aws.amazon.com/compliance/best-practices/" TargetMode="External"/><Relationship Id="rId10" Type="http://schemas.openxmlformats.org/officeDocument/2006/relationships/hyperlink" Target="https://csrc.nist.gov/pubs/sp/800/100/upd1/final" TargetMode="External"/><Relationship Id="rId4" Type="http://schemas.openxmlformats.org/officeDocument/2006/relationships/hyperlink" Target="https://docs.aws.amazon.com/servicecatalog/latest/userguide/launch-product.html" TargetMode="External"/><Relationship Id="rId9" Type="http://schemas.openxmlformats.org/officeDocument/2006/relationships/hyperlink" Target="https://aws.amazon.com/training/"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4400" dirty="0">
                <a:solidFill>
                  <a:schemeClr val="bg1"/>
                </a:solidFill>
              </a:rPr>
              <a:t>Cloud Training: AWS Service Catalog</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dirty="0">
                <a:solidFill>
                  <a:srgbClr val="7CEBFF"/>
                </a:solidFill>
              </a:rPr>
              <a:t>Matthew Santiago</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5C7E5-060E-8D44-422D-A0689BFBD5FE}"/>
              </a:ext>
            </a:extLst>
          </p:cNvPr>
          <p:cNvSpPr>
            <a:spLocks noGrp="1"/>
          </p:cNvSpPr>
          <p:nvPr>
            <p:ph type="title"/>
          </p:nvPr>
        </p:nvSpPr>
        <p:spPr/>
        <p:txBody>
          <a:bodyPr/>
          <a:lstStyle/>
          <a:p>
            <a:r>
              <a:rPr lang="en-US" dirty="0"/>
              <a:t>AWS Service Catalog</a:t>
            </a:r>
          </a:p>
        </p:txBody>
      </p:sp>
      <p:sp>
        <p:nvSpPr>
          <p:cNvPr id="3" name="Content Placeholder 2">
            <a:extLst>
              <a:ext uri="{FF2B5EF4-FFF2-40B4-BE49-F238E27FC236}">
                <a16:creationId xmlns:a16="http://schemas.microsoft.com/office/drawing/2014/main" id="{3A4B0D7B-9425-0346-1325-E888D0FD2800}"/>
              </a:ext>
            </a:extLst>
          </p:cNvPr>
          <p:cNvSpPr>
            <a:spLocks noGrp="1"/>
          </p:cNvSpPr>
          <p:nvPr>
            <p:ph sz="half" idx="1"/>
          </p:nvPr>
        </p:nvSpPr>
        <p:spPr/>
        <p:txBody>
          <a:bodyPr/>
          <a:lstStyle/>
          <a:p>
            <a:r>
              <a:rPr lang="en-US" dirty="0"/>
              <a:t>What is AWS Service Catalog?</a:t>
            </a:r>
          </a:p>
          <a:p>
            <a:r>
              <a:rPr lang="en-US" dirty="0" err="1"/>
              <a:t>BallotOnline’s</a:t>
            </a:r>
            <a:r>
              <a:rPr lang="en-US" dirty="0"/>
              <a:t> Cloud Strategy</a:t>
            </a:r>
          </a:p>
          <a:p>
            <a:r>
              <a:rPr lang="en-US" dirty="0"/>
              <a:t>Why It Matters to You?</a:t>
            </a:r>
          </a:p>
        </p:txBody>
      </p:sp>
      <p:sp>
        <p:nvSpPr>
          <p:cNvPr id="4" name="Content Placeholder 3">
            <a:extLst>
              <a:ext uri="{FF2B5EF4-FFF2-40B4-BE49-F238E27FC236}">
                <a16:creationId xmlns:a16="http://schemas.microsoft.com/office/drawing/2014/main" id="{1427D86F-38F6-3F04-BC2E-220C41D92475}"/>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3047113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64FE9-B6D9-403B-5C58-FF190233B402}"/>
              </a:ext>
            </a:extLst>
          </p:cNvPr>
          <p:cNvSpPr>
            <a:spLocks noGrp="1"/>
          </p:cNvSpPr>
          <p:nvPr>
            <p:ph type="title"/>
          </p:nvPr>
        </p:nvSpPr>
        <p:spPr/>
        <p:txBody>
          <a:bodyPr>
            <a:normAutofit/>
          </a:bodyPr>
          <a:lstStyle/>
          <a:p>
            <a:r>
              <a:rPr lang="en-US" dirty="0"/>
              <a:t>How Users Access the AWS Service Catalog</a:t>
            </a:r>
          </a:p>
        </p:txBody>
      </p:sp>
      <p:sp>
        <p:nvSpPr>
          <p:cNvPr id="3" name="Content Placeholder 2">
            <a:extLst>
              <a:ext uri="{FF2B5EF4-FFF2-40B4-BE49-F238E27FC236}">
                <a16:creationId xmlns:a16="http://schemas.microsoft.com/office/drawing/2014/main" id="{668AECF8-FC6E-9B66-3753-30C60DE46EEE}"/>
              </a:ext>
            </a:extLst>
          </p:cNvPr>
          <p:cNvSpPr>
            <a:spLocks noGrp="1"/>
          </p:cNvSpPr>
          <p:nvPr>
            <p:ph sz="half" idx="1"/>
          </p:nvPr>
        </p:nvSpPr>
        <p:spPr/>
        <p:txBody>
          <a:bodyPr/>
          <a:lstStyle/>
          <a:p>
            <a:r>
              <a:rPr lang="en-US" dirty="0"/>
              <a:t>Log in to AWS with </a:t>
            </a:r>
            <a:r>
              <a:rPr lang="en-US" dirty="0" err="1"/>
              <a:t>BallotOnline</a:t>
            </a:r>
            <a:r>
              <a:rPr lang="en-US" dirty="0"/>
              <a:t> credentials</a:t>
            </a:r>
          </a:p>
          <a:p>
            <a:r>
              <a:rPr lang="en-US" dirty="0"/>
              <a:t>Navigate to Service Catalog in AWS Console </a:t>
            </a:r>
          </a:p>
          <a:p>
            <a:r>
              <a:rPr lang="en-US" dirty="0"/>
              <a:t>Browse pre-approved services</a:t>
            </a:r>
          </a:p>
          <a:p>
            <a:endParaRPr lang="en-US" dirty="0"/>
          </a:p>
        </p:txBody>
      </p:sp>
      <p:sp>
        <p:nvSpPr>
          <p:cNvPr id="4" name="Content Placeholder 3">
            <a:extLst>
              <a:ext uri="{FF2B5EF4-FFF2-40B4-BE49-F238E27FC236}">
                <a16:creationId xmlns:a16="http://schemas.microsoft.com/office/drawing/2014/main" id="{78BD326E-75F4-33A3-4F0B-14ED3C03CAC8}"/>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3438775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A2D14-1395-B1B7-5372-10C1DB5AD482}"/>
              </a:ext>
            </a:extLst>
          </p:cNvPr>
          <p:cNvSpPr>
            <a:spLocks noGrp="1"/>
          </p:cNvSpPr>
          <p:nvPr>
            <p:ph type="title"/>
          </p:nvPr>
        </p:nvSpPr>
        <p:spPr/>
        <p:txBody>
          <a:bodyPr/>
          <a:lstStyle/>
          <a:p>
            <a:r>
              <a:rPr lang="en-US" dirty="0"/>
              <a:t>Deploying Services as an End User</a:t>
            </a:r>
          </a:p>
        </p:txBody>
      </p:sp>
      <p:sp>
        <p:nvSpPr>
          <p:cNvPr id="3" name="Content Placeholder 2">
            <a:extLst>
              <a:ext uri="{FF2B5EF4-FFF2-40B4-BE49-F238E27FC236}">
                <a16:creationId xmlns:a16="http://schemas.microsoft.com/office/drawing/2014/main" id="{62CA8D04-8A9C-61C1-01B0-D4A3B7E21B7B}"/>
              </a:ext>
            </a:extLst>
          </p:cNvPr>
          <p:cNvSpPr>
            <a:spLocks noGrp="1"/>
          </p:cNvSpPr>
          <p:nvPr>
            <p:ph sz="half" idx="1"/>
          </p:nvPr>
        </p:nvSpPr>
        <p:spPr/>
        <p:txBody>
          <a:bodyPr/>
          <a:lstStyle/>
          <a:p>
            <a:r>
              <a:rPr lang="en-US" dirty="0"/>
              <a:t>Select a service from catalog</a:t>
            </a:r>
          </a:p>
          <a:p>
            <a:r>
              <a:rPr lang="en-US" dirty="0"/>
              <a:t>Fill out required fields </a:t>
            </a:r>
          </a:p>
          <a:p>
            <a:r>
              <a:rPr lang="en-US" dirty="0"/>
              <a:t>Submit for deployment</a:t>
            </a:r>
          </a:p>
          <a:p>
            <a:r>
              <a:rPr lang="en-US" dirty="0"/>
              <a:t>Check status in Provisioned Products</a:t>
            </a:r>
          </a:p>
          <a:p>
            <a:endParaRPr lang="en-US" dirty="0"/>
          </a:p>
        </p:txBody>
      </p:sp>
      <p:sp>
        <p:nvSpPr>
          <p:cNvPr id="4" name="Content Placeholder 3">
            <a:extLst>
              <a:ext uri="{FF2B5EF4-FFF2-40B4-BE49-F238E27FC236}">
                <a16:creationId xmlns:a16="http://schemas.microsoft.com/office/drawing/2014/main" id="{A9783DC5-269A-FBE4-814D-249ED4287469}"/>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265309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D4C80-DB6D-E755-E766-B0DBED4D13AE}"/>
              </a:ext>
            </a:extLst>
          </p:cNvPr>
          <p:cNvSpPr>
            <a:spLocks noGrp="1"/>
          </p:cNvSpPr>
          <p:nvPr>
            <p:ph type="title"/>
          </p:nvPr>
        </p:nvSpPr>
        <p:spPr/>
        <p:txBody>
          <a:bodyPr/>
          <a:lstStyle/>
          <a:p>
            <a:r>
              <a:rPr lang="en-US" dirty="0"/>
              <a:t>Your Role as an End User</a:t>
            </a:r>
          </a:p>
        </p:txBody>
      </p:sp>
      <p:sp>
        <p:nvSpPr>
          <p:cNvPr id="3" name="Content Placeholder 2">
            <a:extLst>
              <a:ext uri="{FF2B5EF4-FFF2-40B4-BE49-F238E27FC236}">
                <a16:creationId xmlns:a16="http://schemas.microsoft.com/office/drawing/2014/main" id="{AFBECFF4-EBED-1DAD-F227-B8D770BE281A}"/>
              </a:ext>
            </a:extLst>
          </p:cNvPr>
          <p:cNvSpPr>
            <a:spLocks noGrp="1"/>
          </p:cNvSpPr>
          <p:nvPr>
            <p:ph sz="half" idx="1"/>
          </p:nvPr>
        </p:nvSpPr>
        <p:spPr/>
        <p:txBody>
          <a:bodyPr/>
          <a:lstStyle/>
          <a:p>
            <a:r>
              <a:rPr lang="en-US" dirty="0"/>
              <a:t>Follow </a:t>
            </a:r>
            <a:r>
              <a:rPr lang="en-US" dirty="0" err="1"/>
              <a:t>BallotOnline’s</a:t>
            </a:r>
            <a:r>
              <a:rPr lang="en-US" dirty="0"/>
              <a:t> security policies</a:t>
            </a:r>
          </a:p>
          <a:p>
            <a:r>
              <a:rPr lang="en-US" dirty="0"/>
              <a:t>Use resources responsibly </a:t>
            </a:r>
          </a:p>
          <a:p>
            <a:r>
              <a:rPr lang="en-US" dirty="0"/>
              <a:t>Report issues to IT</a:t>
            </a:r>
          </a:p>
        </p:txBody>
      </p:sp>
      <p:sp>
        <p:nvSpPr>
          <p:cNvPr id="4" name="Content Placeholder 3">
            <a:extLst>
              <a:ext uri="{FF2B5EF4-FFF2-40B4-BE49-F238E27FC236}">
                <a16:creationId xmlns:a16="http://schemas.microsoft.com/office/drawing/2014/main" id="{1F570DD1-ED37-0E96-07E3-75FDC9D3B70E}"/>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708675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41362-F9E4-CBCA-9299-889F31FE5FA5}"/>
              </a:ext>
            </a:extLst>
          </p:cNvPr>
          <p:cNvSpPr>
            <a:spLocks noGrp="1"/>
          </p:cNvSpPr>
          <p:nvPr>
            <p:ph type="title"/>
          </p:nvPr>
        </p:nvSpPr>
        <p:spPr/>
        <p:txBody>
          <a:bodyPr>
            <a:normAutofit/>
          </a:bodyPr>
          <a:lstStyle/>
          <a:p>
            <a:r>
              <a:rPr lang="en-US" dirty="0"/>
              <a:t>Admin Guide</a:t>
            </a:r>
            <a:br>
              <a:rPr lang="en-US" dirty="0"/>
            </a:br>
            <a:r>
              <a:rPr lang="en-US" dirty="0"/>
              <a:t>Managing the AWS Service Catalog</a:t>
            </a:r>
          </a:p>
        </p:txBody>
      </p:sp>
      <p:sp>
        <p:nvSpPr>
          <p:cNvPr id="3" name="Content Placeholder 2">
            <a:extLst>
              <a:ext uri="{FF2B5EF4-FFF2-40B4-BE49-F238E27FC236}">
                <a16:creationId xmlns:a16="http://schemas.microsoft.com/office/drawing/2014/main" id="{6BBA3F57-C0D7-EBED-8917-B3FA378662EA}"/>
              </a:ext>
            </a:extLst>
          </p:cNvPr>
          <p:cNvSpPr>
            <a:spLocks noGrp="1"/>
          </p:cNvSpPr>
          <p:nvPr>
            <p:ph sz="half" idx="1"/>
          </p:nvPr>
        </p:nvSpPr>
        <p:spPr/>
        <p:txBody>
          <a:bodyPr/>
          <a:lstStyle/>
          <a:p>
            <a:r>
              <a:rPr lang="en-US" dirty="0"/>
              <a:t>Create and manage portfolios </a:t>
            </a:r>
          </a:p>
          <a:p>
            <a:r>
              <a:rPr lang="en-US" dirty="0"/>
              <a:t>Add products </a:t>
            </a:r>
          </a:p>
          <a:p>
            <a:r>
              <a:rPr lang="en-US" dirty="0"/>
              <a:t>Assign user permissions via IAM roles</a:t>
            </a:r>
          </a:p>
          <a:p>
            <a:endParaRPr lang="en-US" dirty="0"/>
          </a:p>
        </p:txBody>
      </p:sp>
      <p:sp>
        <p:nvSpPr>
          <p:cNvPr id="4" name="Content Placeholder 3">
            <a:extLst>
              <a:ext uri="{FF2B5EF4-FFF2-40B4-BE49-F238E27FC236}">
                <a16:creationId xmlns:a16="http://schemas.microsoft.com/office/drawing/2014/main" id="{AF548F54-F9A7-9490-F417-1121291F14ED}"/>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3465313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84BFD-B127-E728-EF30-A511E60016D7}"/>
              </a:ext>
            </a:extLst>
          </p:cNvPr>
          <p:cNvSpPr>
            <a:spLocks noGrp="1"/>
          </p:cNvSpPr>
          <p:nvPr>
            <p:ph type="title"/>
          </p:nvPr>
        </p:nvSpPr>
        <p:spPr/>
        <p:txBody>
          <a:bodyPr/>
          <a:lstStyle/>
          <a:p>
            <a:r>
              <a:rPr lang="en-US" dirty="0"/>
              <a:t>Admin - Security and Troubleshooting</a:t>
            </a:r>
          </a:p>
        </p:txBody>
      </p:sp>
      <p:sp>
        <p:nvSpPr>
          <p:cNvPr id="3" name="Content Placeholder 2">
            <a:extLst>
              <a:ext uri="{FF2B5EF4-FFF2-40B4-BE49-F238E27FC236}">
                <a16:creationId xmlns:a16="http://schemas.microsoft.com/office/drawing/2014/main" id="{564A9B3C-91BE-33BB-D686-2969A9CF446C}"/>
              </a:ext>
            </a:extLst>
          </p:cNvPr>
          <p:cNvSpPr>
            <a:spLocks noGrp="1"/>
          </p:cNvSpPr>
          <p:nvPr>
            <p:ph sz="half" idx="1"/>
          </p:nvPr>
        </p:nvSpPr>
        <p:spPr/>
        <p:txBody>
          <a:bodyPr/>
          <a:lstStyle/>
          <a:p>
            <a:r>
              <a:rPr lang="en-US" dirty="0"/>
              <a:t>Monitor usage and enforce compliance</a:t>
            </a:r>
          </a:p>
          <a:p>
            <a:r>
              <a:rPr lang="en-US" dirty="0"/>
              <a:t>Set constraints </a:t>
            </a:r>
          </a:p>
          <a:p>
            <a:r>
              <a:rPr lang="en-US" dirty="0"/>
              <a:t>Troubleshoot deployment errors</a:t>
            </a:r>
          </a:p>
        </p:txBody>
      </p:sp>
      <p:sp>
        <p:nvSpPr>
          <p:cNvPr id="4" name="Content Placeholder 3">
            <a:extLst>
              <a:ext uri="{FF2B5EF4-FFF2-40B4-BE49-F238E27FC236}">
                <a16:creationId xmlns:a16="http://schemas.microsoft.com/office/drawing/2014/main" id="{C0AD2938-B323-0609-2E4D-4DE96CD1346E}"/>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4188380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85FFE-ED75-A7E8-A300-6C21BDD8B260}"/>
              </a:ext>
            </a:extLst>
          </p:cNvPr>
          <p:cNvSpPr>
            <a:spLocks noGrp="1"/>
          </p:cNvSpPr>
          <p:nvPr>
            <p:ph type="title"/>
          </p:nvPr>
        </p:nvSpPr>
        <p:spPr/>
        <p:txBody>
          <a:bodyPr/>
          <a:lstStyle/>
          <a:p>
            <a:r>
              <a:rPr lang="en-US" dirty="0"/>
              <a:t>Best Practices for Cloud Success</a:t>
            </a:r>
          </a:p>
        </p:txBody>
      </p:sp>
      <p:sp>
        <p:nvSpPr>
          <p:cNvPr id="3" name="Content Placeholder 2">
            <a:extLst>
              <a:ext uri="{FF2B5EF4-FFF2-40B4-BE49-F238E27FC236}">
                <a16:creationId xmlns:a16="http://schemas.microsoft.com/office/drawing/2014/main" id="{AD803638-D288-8181-8F10-9917A132FAF1}"/>
              </a:ext>
            </a:extLst>
          </p:cNvPr>
          <p:cNvSpPr>
            <a:spLocks noGrp="1"/>
          </p:cNvSpPr>
          <p:nvPr>
            <p:ph sz="half" idx="1"/>
          </p:nvPr>
        </p:nvSpPr>
        <p:spPr/>
        <p:txBody>
          <a:bodyPr/>
          <a:lstStyle/>
          <a:p>
            <a:r>
              <a:rPr lang="en-US" dirty="0"/>
              <a:t>Keep training relevant to your role</a:t>
            </a:r>
          </a:p>
          <a:p>
            <a:r>
              <a:rPr lang="en-US" dirty="0"/>
              <a:t>Use hands-on examples</a:t>
            </a:r>
          </a:p>
          <a:p>
            <a:r>
              <a:rPr lang="en-US" dirty="0"/>
              <a:t>Contact IT for support or questions</a:t>
            </a:r>
          </a:p>
          <a:p>
            <a:endParaRPr lang="en-US" dirty="0"/>
          </a:p>
        </p:txBody>
      </p:sp>
      <p:sp>
        <p:nvSpPr>
          <p:cNvPr id="4" name="Content Placeholder 3">
            <a:extLst>
              <a:ext uri="{FF2B5EF4-FFF2-40B4-BE49-F238E27FC236}">
                <a16:creationId xmlns:a16="http://schemas.microsoft.com/office/drawing/2014/main" id="{956EAC96-7F33-3EB3-070F-24F80B7FD38E}"/>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1136993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44423-E9AC-33E3-F400-A9F0ABAAEA85}"/>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ECC5C2AC-4013-026E-EDD1-C5A97E781984}"/>
              </a:ext>
            </a:extLst>
          </p:cNvPr>
          <p:cNvSpPr>
            <a:spLocks noGrp="1"/>
          </p:cNvSpPr>
          <p:nvPr>
            <p:ph idx="1"/>
          </p:nvPr>
        </p:nvSpPr>
        <p:spPr/>
        <p:txBody>
          <a:bodyPr>
            <a:normAutofit fontScale="70000" lnSpcReduction="20000"/>
          </a:bodyPr>
          <a:lstStyle/>
          <a:p>
            <a:pPr>
              <a:buNone/>
            </a:pPr>
            <a:r>
              <a:rPr lang="en-US" dirty="0">
                <a:effectLst/>
              </a:rPr>
              <a:t>Amazon Web Services. (n.d.-a). </a:t>
            </a:r>
            <a:r>
              <a:rPr lang="en-US" i="1" dirty="0">
                <a:effectLst/>
              </a:rPr>
              <a:t>What is Service Catalog? AWS Service Catalog administrator guide</a:t>
            </a:r>
            <a:r>
              <a:rPr lang="en-US" dirty="0">
                <a:effectLst/>
              </a:rPr>
              <a:t>. Retrieved March 8, 2025, from </a:t>
            </a:r>
            <a:r>
              <a:rPr lang="en-US" dirty="0">
                <a:effectLst/>
                <a:hlinkClick r:id="rId2"/>
              </a:rPr>
              <a:t>https://docs.aws.amazon.com/servicecatalog/latest/adminguide/introduction.html</a:t>
            </a:r>
            <a:endParaRPr lang="en-US" dirty="0">
              <a:effectLst/>
            </a:endParaRPr>
          </a:p>
          <a:p>
            <a:pPr>
              <a:buNone/>
            </a:pPr>
            <a:r>
              <a:rPr lang="en-US" dirty="0">
                <a:effectLst/>
              </a:rPr>
              <a:t>Amazon Web Services. (n.d.-b). </a:t>
            </a:r>
            <a:r>
              <a:rPr lang="en-US" i="1" dirty="0">
                <a:effectLst/>
              </a:rPr>
              <a:t>Getting started with Service Catalog as a user: AWS Service Catalog user guide</a:t>
            </a:r>
            <a:r>
              <a:rPr lang="en-US" dirty="0">
                <a:effectLst/>
              </a:rPr>
              <a:t>. Retrieved March 8, 2025, from </a:t>
            </a:r>
            <a:r>
              <a:rPr lang="en-US" dirty="0">
                <a:effectLst/>
                <a:hlinkClick r:id="rId3"/>
              </a:rPr>
              <a:t>https://docs.aws.amazon.com/servicecatalog/latest/userguide/introduction.html</a:t>
            </a:r>
            <a:endParaRPr lang="en-US" dirty="0">
              <a:effectLst/>
            </a:endParaRPr>
          </a:p>
          <a:p>
            <a:pPr>
              <a:buNone/>
            </a:pPr>
            <a:r>
              <a:rPr lang="en-US" dirty="0">
                <a:effectLst/>
              </a:rPr>
              <a:t>Amazon Web Services. (n.d.-c). </a:t>
            </a:r>
            <a:r>
              <a:rPr lang="en-US" i="1" dirty="0">
                <a:effectLst/>
              </a:rPr>
              <a:t>Launching a product: AWS Service Catalog user guide</a:t>
            </a:r>
            <a:r>
              <a:rPr lang="en-US" dirty="0">
                <a:effectLst/>
              </a:rPr>
              <a:t>. Retrieved March 8, 2025, from </a:t>
            </a:r>
            <a:r>
              <a:rPr lang="en-US" dirty="0">
                <a:effectLst/>
                <a:hlinkClick r:id="rId4"/>
              </a:rPr>
              <a:t>https://docs.aws.amazon.com/servicecatalog/latest/userguide/launch-product.html</a:t>
            </a:r>
            <a:endParaRPr lang="en-US" dirty="0">
              <a:effectLst/>
            </a:endParaRPr>
          </a:p>
          <a:p>
            <a:pPr>
              <a:buNone/>
            </a:pPr>
            <a:r>
              <a:rPr lang="en-US" dirty="0">
                <a:effectLst/>
              </a:rPr>
              <a:t>Amazon Web Services. (n.d.-d). </a:t>
            </a:r>
            <a:r>
              <a:rPr lang="en-US" i="1" dirty="0">
                <a:effectLst/>
              </a:rPr>
              <a:t>Security best practices: AWS compliance best practices</a:t>
            </a:r>
            <a:r>
              <a:rPr lang="en-US" dirty="0">
                <a:effectLst/>
              </a:rPr>
              <a:t>. Retrieved March 8, 2025, from </a:t>
            </a:r>
            <a:r>
              <a:rPr lang="en-US" dirty="0">
                <a:effectLst/>
                <a:hlinkClick r:id="rId5"/>
              </a:rPr>
              <a:t>https://aws.amazon.com/compliance/best-practices/</a:t>
            </a:r>
            <a:endParaRPr lang="en-US" dirty="0">
              <a:effectLst/>
            </a:endParaRPr>
          </a:p>
          <a:p>
            <a:pPr>
              <a:buNone/>
            </a:pPr>
            <a:r>
              <a:rPr lang="en-US" dirty="0">
                <a:effectLst/>
              </a:rPr>
              <a:t>Amazon Web Services. (n.d.-e). </a:t>
            </a:r>
            <a:r>
              <a:rPr lang="en-US" i="1" dirty="0">
                <a:effectLst/>
              </a:rPr>
              <a:t>Managing portfolios and products: AWS Service Catalog administrator guide</a:t>
            </a:r>
            <a:r>
              <a:rPr lang="en-US" dirty="0">
                <a:effectLst/>
              </a:rPr>
              <a:t>. Retrieved March 8, 2025, from </a:t>
            </a:r>
            <a:r>
              <a:rPr lang="en-US" dirty="0">
                <a:effectLst/>
                <a:hlinkClick r:id="rId6"/>
              </a:rPr>
              <a:t>https://docs.aws.amazon.com/servicecatalog/latest/adminguide/portfolio-product.html</a:t>
            </a:r>
            <a:endParaRPr lang="en-US" dirty="0">
              <a:effectLst/>
            </a:endParaRPr>
          </a:p>
          <a:p>
            <a:pPr>
              <a:buNone/>
            </a:pPr>
            <a:r>
              <a:rPr lang="en-US" dirty="0">
                <a:effectLst/>
              </a:rPr>
              <a:t>Amazon Web Services. (n.d.-f). </a:t>
            </a:r>
            <a:r>
              <a:rPr lang="en-US" i="1" dirty="0">
                <a:effectLst/>
              </a:rPr>
              <a:t>Amazon CloudWatch: AWS CloudWatch</a:t>
            </a:r>
            <a:r>
              <a:rPr lang="en-US" dirty="0">
                <a:effectLst/>
              </a:rPr>
              <a:t>. Retrieved March 8, 2025, from </a:t>
            </a:r>
            <a:r>
              <a:rPr lang="en-US" dirty="0">
                <a:effectLst/>
                <a:hlinkClick r:id="rId7"/>
              </a:rPr>
              <a:t>https://aws.amazon.com/cloudwatch/</a:t>
            </a:r>
            <a:endParaRPr lang="en-US" dirty="0">
              <a:effectLst/>
            </a:endParaRPr>
          </a:p>
          <a:p>
            <a:pPr>
              <a:buNone/>
            </a:pPr>
            <a:r>
              <a:rPr lang="en-US" dirty="0">
                <a:effectLst/>
              </a:rPr>
              <a:t>Amazon Web Services. (n.d.-g). </a:t>
            </a:r>
            <a:r>
              <a:rPr lang="en-US" i="1" dirty="0">
                <a:effectLst/>
              </a:rPr>
              <a:t>Amazon CloudTrail: AWS CloudTrail</a:t>
            </a:r>
            <a:r>
              <a:rPr lang="en-US" dirty="0">
                <a:effectLst/>
              </a:rPr>
              <a:t>. Retrieved March 8, 2025, from </a:t>
            </a:r>
            <a:r>
              <a:rPr lang="en-US" dirty="0">
                <a:effectLst/>
                <a:hlinkClick r:id="rId8"/>
              </a:rPr>
              <a:t>https://aws.amazon.com/cloudtrail/</a:t>
            </a:r>
            <a:endParaRPr lang="en-US" dirty="0">
              <a:effectLst/>
            </a:endParaRPr>
          </a:p>
          <a:p>
            <a:pPr>
              <a:buNone/>
            </a:pPr>
            <a:r>
              <a:rPr lang="en-US" dirty="0">
                <a:effectLst/>
              </a:rPr>
              <a:t>Amazon Web Services. (n.d.-h). </a:t>
            </a:r>
            <a:r>
              <a:rPr lang="en-US" i="1" dirty="0">
                <a:effectLst/>
              </a:rPr>
              <a:t>Training and certification: AWS training and certification</a:t>
            </a:r>
            <a:r>
              <a:rPr lang="en-US" dirty="0">
                <a:effectLst/>
              </a:rPr>
              <a:t>. Retrieved March 8, 2025, from </a:t>
            </a:r>
            <a:r>
              <a:rPr lang="en-US" dirty="0">
                <a:effectLst/>
                <a:hlinkClick r:id="rId9"/>
              </a:rPr>
              <a:t>https://aws.amazon.com/training/</a:t>
            </a:r>
            <a:endParaRPr lang="en-US" dirty="0">
              <a:effectLst/>
            </a:endParaRPr>
          </a:p>
          <a:p>
            <a:pPr marL="0" indent="0">
              <a:buNone/>
            </a:pPr>
            <a:r>
              <a:rPr lang="en-US" dirty="0">
                <a:effectLst/>
              </a:rPr>
              <a:t>National Institute of Standards and Technology. (2006). </a:t>
            </a:r>
            <a:r>
              <a:rPr lang="en-US" i="1" dirty="0">
                <a:effectLst/>
              </a:rPr>
              <a:t>NIST Special Publication 800-100: Information security handbook: A guide for managers</a:t>
            </a:r>
            <a:r>
              <a:rPr lang="en-US" dirty="0">
                <a:effectLst/>
              </a:rPr>
              <a:t>. Retrieved March 8, 2025, from </a:t>
            </a:r>
            <a:r>
              <a:rPr lang="en-US" dirty="0">
                <a:effectLst/>
                <a:hlinkClick r:id="rId10"/>
              </a:rPr>
              <a:t>https://csrc.nist.gov/pubs/sp/800/100/upd1/final</a:t>
            </a:r>
            <a:endParaRPr lang="en-US" dirty="0">
              <a:effectLst/>
            </a:endParaRPr>
          </a:p>
        </p:txBody>
      </p:sp>
    </p:spTree>
    <p:extLst>
      <p:ext uri="{BB962C8B-B14F-4D97-AF65-F5344CB8AC3E}">
        <p14:creationId xmlns:p14="http://schemas.microsoft.com/office/powerpoint/2010/main" val="3899675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a:normAutofit/>
          </a:bodyPr>
          <a:lstStyle/>
          <a:p>
            <a:r>
              <a:rPr lang="en-US" dirty="0">
                <a:solidFill>
                  <a:schemeClr val="bg2"/>
                </a:solidFill>
              </a:rPr>
              <a:t>someone@example.com</a:t>
            </a:r>
          </a:p>
          <a:p>
            <a:endParaRPr lang="en-US" dirty="0">
              <a:solidFill>
                <a:schemeClr val="bg2"/>
              </a:solidFill>
            </a:endParaRPr>
          </a:p>
          <a:p>
            <a:endParaRPr lang="en-US" dirty="0">
              <a:solidFill>
                <a:schemeClr val="bg2"/>
              </a:solidFill>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3.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design</Template>
  <TotalTime>0</TotalTime>
  <Words>1218</Words>
  <Application>Microsoft Office PowerPoint</Application>
  <PresentationFormat>Widescreen</PresentationFormat>
  <Paragraphs>59</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__Public_Sans_3a41d0</vt:lpstr>
      <vt:lpstr>Calibri</vt:lpstr>
      <vt:lpstr>Gill Sans MT</vt:lpstr>
      <vt:lpstr>Wingdings 2</vt:lpstr>
      <vt:lpstr>Custom</vt:lpstr>
      <vt:lpstr>Cloud Training: AWS Service Catalog</vt:lpstr>
      <vt:lpstr>AWS Service Catalog</vt:lpstr>
      <vt:lpstr>How Users Access the AWS Service Catalog</vt:lpstr>
      <vt:lpstr>Deploying Services as an End User</vt:lpstr>
      <vt:lpstr>Your Role as an End User</vt:lpstr>
      <vt:lpstr>Admin Guide Managing the AWS Service Catalog</vt:lpstr>
      <vt:lpstr>Admin - Security and Troubleshooting</vt:lpstr>
      <vt:lpstr>Best Practices for Cloud Success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Santiago</dc:creator>
  <cp:lastModifiedBy>Matthew Santiago</cp:lastModifiedBy>
  <cp:revision>3</cp:revision>
  <dcterms:created xsi:type="dcterms:W3CDTF">2025-03-09T02:17:25Z</dcterms:created>
  <dcterms:modified xsi:type="dcterms:W3CDTF">2025-03-09T02:47:09Z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